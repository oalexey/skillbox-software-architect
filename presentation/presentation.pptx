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B41CC-01F1-404B-82DF-C38E41C78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D86C6D-7CB7-46BB-8CBA-2E6AA0E17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FAF807-4FAC-4423-B841-F647B5CB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CFF1E3-06D8-42AD-ABD1-FFE0F342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521C8F-7C71-44C5-8FDE-6A0ADFE5C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394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5DCED-181D-4341-86F3-360418C57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4E324A-ED0D-4A19-8981-CD7229191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ABD5E1-98A2-48F4-8C4C-A4F930CEA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85CBC6-C725-4CCC-8793-3BD32E63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EE61E-5A1B-4811-87E6-246FE942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31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ABAFE-9849-40BC-92C7-7B3FF4BD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6736B0-E4AC-4381-ABF8-1768FCE2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21F8AC-3553-413B-82A7-ACD6C89F4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471CA5-769F-4A21-8EFF-3EF6240FB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8F7A5B-7374-4872-AD9D-70F2B879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57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D6C21-B595-4143-8312-7E45A44F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7191D6-8E50-4F88-B891-8655A3A0A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3ACF5E-03C5-48D7-A499-536795FA4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EEB1D3-6B11-4D11-BA22-1FC663C6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177EF0-118E-43EE-9155-BBF3C39F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AF9DE3-9196-4FE6-B9B9-261DC122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17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FE34F-409E-415E-BA46-C8A6B732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A03CC3-60A7-43E8-89F5-979AFCE1D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723FCD-5F88-48BF-85FC-4EB9112A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8ECE00-56E0-4877-A3DA-893A88673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9ABA11-D361-4021-A88F-AA4B2A333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CC9BE7-9C92-479E-A129-E57BB797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731168-6CC6-4F4F-9CE9-0EE261846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75F8F2-CD1A-47B3-B16E-6993B1F9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26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F1F8BF-7C52-406B-AD15-C818F966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3D0813-F46C-4E95-A1C6-0F4189EA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5637779-85A0-4509-B4C9-6253E86B8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5225B6-7FE7-40AD-8569-111E9E9A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43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F389F3-284D-4C0F-8677-CA9CA49B7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7D99A9-A3DE-4624-AF6A-D01CDFA9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785474-0C2F-4EB1-B0F3-F96B3A7A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03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BC374-D92B-4172-96CC-2F9AEEEF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2F5A34-A247-4250-8B83-AA8E5CA6F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77C4B4-84DC-4FD4-AB38-F2387DBD8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1A964C-7218-48C5-BFED-A47D42109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F352CA-AB6B-4F7A-ABF9-C5B838DA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556D40-E22A-45A1-9B62-4FFEE264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29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92B4D-0C16-4602-85F3-350DDD3EB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DB323E-239F-462D-A784-C841DD86C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96473A-93EF-4CEC-B3F9-52A7FBCA1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AB9A55-DE90-4AF3-AD35-12711542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6C6527-110F-4FCA-869B-B5D717AA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07A441-E239-4940-B3D2-7C3A3B52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73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E8227F-9243-4828-AFB0-6193D7F6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30C141-C930-463B-84BB-140CD355B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F757F0-A4E2-4FCA-943C-8814626B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BF6EED-0E3D-4D85-8AC4-5F781119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40AB28-1572-44EE-9C36-8C3ADACD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05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EFF4FE1-2428-4BF3-90D2-E8A9E4DB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BC7AA8-67DC-450C-8271-1B58C26A9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EFB4B1-348E-43FD-BF6A-20407E76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1ED69B-FFD0-47CE-BD83-4B708A58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6AFF2C-0186-4F3F-9156-ABE289CF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7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2A155-DA93-47F6-904F-EE80294E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A0A26E-3FF9-4627-BF96-773069AA7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6B72B5-EEB9-43FB-ACDD-CBAD8FD0A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987BF-2047-4A32-BDFA-B6799D5A0E93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9C521E-5440-4B7F-8EDF-6A3A92F66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70051F-EB32-448D-89F2-7D5146813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17BFF-10A5-4C86-9541-0867BA811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88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77C28D-F6D9-4F31-9435-062940079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00514"/>
          </a:xfrm>
        </p:spPr>
        <p:txBody>
          <a:bodyPr>
            <a:noAutofit/>
          </a:bodyPr>
          <a:lstStyle/>
          <a:p>
            <a:r>
              <a:rPr lang="ru-RU" sz="2800" b="1" i="0" dirty="0">
                <a:solidFill>
                  <a:srgbClr val="222222"/>
                </a:solidFill>
                <a:effectLst/>
              </a:rPr>
              <a:t>Спортивная платформа бренда: вовлечение, сообщество, продажи</a:t>
            </a:r>
            <a:endParaRPr lang="ru-RU" sz="2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FBF7A5-3566-48C8-A76F-BBB6FDA68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1940" y="2013869"/>
            <a:ext cx="1678004" cy="1624480"/>
          </a:xfrm>
          <a:scene3d>
            <a:camera prst="perspectiveContrastingRightFacing" fov="600000">
              <a:rot lat="21365634" lon="18238790" rev="750000"/>
            </a:camera>
            <a:lightRig rig="threePt" dir="t"/>
          </a:scene3d>
        </p:spPr>
        <p:txBody>
          <a:bodyPr>
            <a:normAutofit fontScale="92500" lnSpcReduction="20000"/>
          </a:bodyPr>
          <a:lstStyle/>
          <a:p>
            <a:r>
              <a:rPr lang="ru-RU" sz="2000" b="1" i="0" dirty="0">
                <a:solidFill>
                  <a:srgbClr val="222222"/>
                </a:solidFill>
                <a:effectLst/>
              </a:rPr>
              <a:t>Превращаем разовую покупку в долгосрочные отношения со спортсменом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404147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DB95E95-6D5E-4846-9365-BC8E9E903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39307"/>
            <a:ext cx="10855548" cy="649705"/>
          </a:xfrm>
        </p:spPr>
        <p:txBody>
          <a:bodyPr>
            <a:normAutofit/>
          </a:bodyPr>
          <a:lstStyle/>
          <a:p>
            <a:r>
              <a:rPr lang="ru-RU" sz="2800" b="1" i="0" dirty="0">
                <a:solidFill>
                  <a:srgbClr val="222222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Проблема: после покупки контакт с пользователем часто теряется</a:t>
            </a:r>
            <a:endParaRPr lang="ru-RU" sz="2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C1EF04-6CF9-45C2-BA82-417188DF80A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008" y="1460634"/>
            <a:ext cx="6815328" cy="3800856"/>
          </a:xfrm>
          <a:noFill/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93E54F98-8EF2-4F9F-AC33-4B18835B2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60634"/>
            <a:ext cx="3932237" cy="3811588"/>
          </a:xfrm>
        </p:spPr>
        <p:txBody>
          <a:bodyPr>
            <a:normAutofit lnSpcReduction="10000"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</a:rPr>
              <a:t>Сегодня покупатель приобрел товар — и дальше контакт с брендом может быть слабым.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</a:rPr>
              <a:t>Конкуренция на полке высокая: при равных характеристиках побеждает тот бренд, который ближе пользователю эмоционально.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</a:rPr>
              <a:t>Пользователю нужен не просто товар, а прогресс, мотивация, сообщество и результат.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</a:rPr>
              <a:t>Приложение может стать постоянным цифровым контактом с брендом.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</a:rPr>
              <a:t>У компании уже есть приложения, аудитория, продукты и спортивная экспертиза — нужна единая платформа вовлечения.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155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F6BA8-7075-45F6-9C75-C89A23F95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881" y="243502"/>
            <a:ext cx="3932237" cy="527786"/>
          </a:xfrm>
        </p:spPr>
        <p:txBody>
          <a:bodyPr>
            <a:normAutofit/>
          </a:bodyPr>
          <a:lstStyle/>
          <a:p>
            <a:r>
              <a:rPr lang="ru-RU" sz="2800" b="1" dirty="0"/>
              <a:t>Наши бизнес цели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507D2B-9D28-4B43-AA94-3CE2852668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6" r="14686"/>
          <a:stretch>
            <a:fillRect/>
          </a:stretch>
        </p:blipFill>
        <p:spPr>
          <a:xfrm>
            <a:off x="6912916" y="1801848"/>
            <a:ext cx="4921880" cy="3886361"/>
          </a:xfrm>
        </p:spPr>
      </p:pic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129855ED-5824-4E9A-A268-A4C2AE135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392204"/>
              </p:ext>
            </p:extLst>
          </p:nvPr>
        </p:nvGraphicFramePr>
        <p:xfrm>
          <a:off x="453456" y="1135780"/>
          <a:ext cx="6096000" cy="4833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107812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418506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20315971"/>
                    </a:ext>
                  </a:extLst>
                </a:gridCol>
              </a:tblGrid>
              <a:tr h="413887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Бизнес-цель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Что это дает бизнесу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Измеримый ориентир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305138"/>
                  </a:ext>
                </a:extLst>
              </a:tr>
              <a:tr h="764840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Регулярное использование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Приложение становится частью спортивной рутины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40% активных пользователей тренируются 2+ раза в неделю через 12 месяцев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199541"/>
                  </a:ext>
                </a:extLst>
              </a:tr>
              <a:tr h="764840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Сообщество и бренд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Пользователи объединяются вокруг спорта и бренда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25% активных пользователей участвуют в группах или </a:t>
                      </a:r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челленджах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119332"/>
                  </a:ext>
                </a:extLst>
              </a:tr>
              <a:tr h="764840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Рост продаж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Контекстные рекомендации, износ товаров, промо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Рост повторных покупок среди активных пользователей на 10–15%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14178"/>
                  </a:ext>
                </a:extLst>
              </a:tr>
              <a:tr h="764840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Доверенные данные первого лица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Персонализация без нарушения приватности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80% пользователей с прозрачными согласиями, 0 критических инцидентов приватности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669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26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F052A41-F92D-4414-AA3D-8BD404F7D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523" y="360639"/>
            <a:ext cx="6708809" cy="418699"/>
          </a:xfrm>
        </p:spPr>
        <p:txBody>
          <a:bodyPr>
            <a:noAutofit/>
          </a:bodyPr>
          <a:lstStyle/>
          <a:p>
            <a:r>
              <a:rPr lang="ru-RU" sz="2800" b="1" dirty="0"/>
              <a:t>Мы управляем рисками через архитектуру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EB74380-AA2E-4103-B9FF-A7BED0D3C71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938" y="1249056"/>
            <a:ext cx="5069305" cy="2827113"/>
          </a:xfrm>
        </p:spPr>
      </p:pic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8E5D75D0-FEEB-44B1-B190-213950D6E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052725"/>
              </p:ext>
            </p:extLst>
          </p:nvPr>
        </p:nvGraphicFramePr>
        <p:xfrm>
          <a:off x="375385" y="1249056"/>
          <a:ext cx="6371924" cy="472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981">
                  <a:extLst>
                    <a:ext uri="{9D8B030D-6E8A-4147-A177-3AD203B41FA5}">
                      <a16:colId xmlns:a16="http://schemas.microsoft.com/office/drawing/2014/main" val="1245837057"/>
                    </a:ext>
                  </a:extLst>
                </a:gridCol>
                <a:gridCol w="1592981">
                  <a:extLst>
                    <a:ext uri="{9D8B030D-6E8A-4147-A177-3AD203B41FA5}">
                      <a16:colId xmlns:a16="http://schemas.microsoft.com/office/drawing/2014/main" val="2555604171"/>
                    </a:ext>
                  </a:extLst>
                </a:gridCol>
                <a:gridCol w="1592981">
                  <a:extLst>
                    <a:ext uri="{9D8B030D-6E8A-4147-A177-3AD203B41FA5}">
                      <a16:colId xmlns:a16="http://schemas.microsoft.com/office/drawing/2014/main" val="2866086590"/>
                    </a:ext>
                  </a:extLst>
                </a:gridCol>
                <a:gridCol w="1592981">
                  <a:extLst>
                    <a:ext uri="{9D8B030D-6E8A-4147-A177-3AD203B41FA5}">
                      <a16:colId xmlns:a16="http://schemas.microsoft.com/office/drawing/2014/main" val="4171172495"/>
                    </a:ext>
                  </a:extLst>
                </a:gridCol>
              </a:tblGrid>
              <a:tr h="310236">
                <a:tc>
                  <a:txBody>
                    <a:bodyPr/>
                    <a:lstStyle/>
                    <a:p>
                      <a:r>
                        <a:rPr lang="ru-RU" sz="1000" dirty="0"/>
                        <a:t>Риск / вызов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Что может пойти не 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Архитектурное 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Бизнес-эффект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602444"/>
                  </a:ext>
                </a:extLst>
              </a:tr>
              <a:tr h="694501">
                <a:tc>
                  <a:txBody>
                    <a:bodyPr/>
                    <a:lstStyle/>
                    <a:p>
                      <a:r>
                        <a:rPr lang="ru-RU" sz="1000" dirty="0"/>
                        <a:t>Приватность и детские 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Штрафы, репутационный ущерб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Отдельный сервис согласий, шифрование, региональное хранение, детский 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Защищаем бренд и снижаем юридические риски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42180"/>
                  </a:ext>
                </a:extLst>
              </a:tr>
              <a:tr h="588746">
                <a:tc>
                  <a:txBody>
                    <a:bodyPr/>
                    <a:lstStyle/>
                    <a:p>
                      <a:r>
                        <a:rPr lang="ru-RU" sz="1000" dirty="0"/>
                        <a:t>Тренировка не должна теряться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Пользователь тренировался без сети, данные потерялись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 err="1"/>
                        <a:t>Offline-first</a:t>
                      </a:r>
                      <a:r>
                        <a:rPr lang="ru-RU" sz="1000" dirty="0"/>
                        <a:t>, локальная очередь, идемпотентная синхронизация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Сохраняем доверие и ценность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062520"/>
                  </a:ext>
                </a:extLst>
              </a:tr>
              <a:tr h="694501">
                <a:tc>
                  <a:txBody>
                    <a:bodyPr/>
                    <a:lstStyle/>
                    <a:p>
                      <a:r>
                        <a:rPr lang="ru-RU" sz="1000" dirty="0"/>
                        <a:t>Пиковые нагрузки на соревнованиях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Приложение падает в момент массового старта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Событийная архитектура, очереди, </a:t>
                      </a:r>
                      <a:r>
                        <a:rPr lang="ru-RU" sz="1000" dirty="0" err="1"/>
                        <a:t>автоскейлинг</a:t>
                      </a:r>
                      <a:r>
                        <a:rPr lang="ru-RU" sz="1000" dirty="0"/>
                        <a:t>, деградация второстепенных функций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Сохраняем репутацию при массовых событиях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136902"/>
                  </a:ext>
                </a:extLst>
              </a:tr>
              <a:tr h="569494">
                <a:tc>
                  <a:txBody>
                    <a:bodyPr/>
                    <a:lstStyle/>
                    <a:p>
                      <a:r>
                        <a:rPr lang="ru-RU" sz="1000" dirty="0"/>
                        <a:t>Много устройств и датчиков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Плохие данные, ошибки интеграций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Адаптерный слой, валидация данных, качество сигнала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Улучшаем пользовательский опыт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407442"/>
                  </a:ext>
                </a:extLst>
              </a:tr>
              <a:tr h="567891">
                <a:tc>
                  <a:txBody>
                    <a:bodyPr/>
                    <a:lstStyle/>
                    <a:p>
                      <a:r>
                        <a:rPr lang="ru-RU" sz="1000" dirty="0"/>
                        <a:t>Рост объема телеметрии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Дорогое хранение и обработка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Агрегация, сжатие, хранение по уровням, политики удаления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Контролируем стоимость инфраструктуры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90001"/>
                  </a:ext>
                </a:extLst>
              </a:tr>
              <a:tr h="596766">
                <a:tc>
                  <a:txBody>
                    <a:bodyPr/>
                    <a:lstStyle/>
                    <a:p>
                      <a:r>
                        <a:rPr lang="ru-RU" sz="1000" dirty="0"/>
                        <a:t>Слишком навязчивые промо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Пользователи раздражаются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Правила частоты, контекст, согласия, персональные лимиты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Сохраняем лояльность и доверие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73506"/>
                  </a:ext>
                </a:extLst>
              </a:tr>
              <a:tr h="694501">
                <a:tc>
                  <a:txBody>
                    <a:bodyPr/>
                    <a:lstStyle/>
                    <a:p>
                      <a:r>
                        <a:rPr lang="ru-RU" sz="1000" dirty="0"/>
                        <a:t>Нужна скорость разработки и экспериментов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Платформа становится тормозом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Модульные домены, API-</a:t>
                      </a:r>
                      <a:r>
                        <a:rPr lang="ru-RU" sz="1000" dirty="0" err="1"/>
                        <a:t>first</a:t>
                      </a:r>
                      <a:r>
                        <a:rPr lang="ru-RU" sz="1000" dirty="0"/>
                        <a:t>, </a:t>
                      </a:r>
                      <a:r>
                        <a:rPr lang="ru-RU" sz="1000" dirty="0" err="1"/>
                        <a:t>feature</a:t>
                      </a:r>
                      <a:r>
                        <a:rPr lang="ru-RU" sz="1000" dirty="0"/>
                        <a:t> </a:t>
                      </a:r>
                      <a:r>
                        <a:rPr lang="ru-RU" sz="1000" dirty="0" err="1"/>
                        <a:t>flags</a:t>
                      </a:r>
                      <a:r>
                        <a:rPr lang="ru-RU" sz="1000" dirty="0"/>
                        <a:t>, наблюдаемость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Быстро проверяем гипотезы без поломки системы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695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65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A66A0E-4173-4EF1-B8EA-8EF931FA7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307"/>
            <a:ext cx="12192000" cy="67993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EC3BB8-FC14-4B9E-807E-704E2FC7EDFA}"/>
              </a:ext>
            </a:extLst>
          </p:cNvPr>
          <p:cNvSpPr txBox="1"/>
          <p:nvPr/>
        </p:nvSpPr>
        <p:spPr>
          <a:xfrm>
            <a:off x="1829536" y="340790"/>
            <a:ext cx="853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solidFill>
                  <a:srgbClr val="222222"/>
                </a:solidFill>
                <a:effectLst/>
                <a:latin typeface="+mj-lt"/>
              </a:rPr>
              <a:t>Архитектура: безопасная, масштабируемая, модульная</a:t>
            </a:r>
            <a:endParaRPr lang="ru-RU" sz="28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B8E5D8-D081-4A35-B39E-E65947706638}"/>
              </a:ext>
            </a:extLst>
          </p:cNvPr>
          <p:cNvSpPr txBox="1"/>
          <p:nvPr/>
        </p:nvSpPr>
        <p:spPr>
          <a:xfrm>
            <a:off x="3465765" y="1552809"/>
            <a:ext cx="914033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события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7F020-976D-45D9-B4C5-B2F4AD11A289}"/>
              </a:ext>
            </a:extLst>
          </p:cNvPr>
          <p:cNvSpPr txBox="1"/>
          <p:nvPr/>
        </p:nvSpPr>
        <p:spPr>
          <a:xfrm>
            <a:off x="4841811" y="1552809"/>
            <a:ext cx="1084143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аналитика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6129A-94B3-4703-B007-65755CE4EDBA}"/>
              </a:ext>
            </a:extLst>
          </p:cNvPr>
          <p:cNvSpPr txBox="1"/>
          <p:nvPr/>
        </p:nvSpPr>
        <p:spPr>
          <a:xfrm>
            <a:off x="6355749" y="1552809"/>
            <a:ext cx="756938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промо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3094E0-AB1C-498B-8BF6-4BC5AF935CD2}"/>
              </a:ext>
            </a:extLst>
          </p:cNvPr>
          <p:cNvSpPr txBox="1"/>
          <p:nvPr/>
        </p:nvSpPr>
        <p:spPr>
          <a:xfrm>
            <a:off x="7759199" y="1552809"/>
            <a:ext cx="786690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отчеты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D5CA5C-CA52-4EAA-8218-7F79F3045D75}"/>
              </a:ext>
            </a:extLst>
          </p:cNvPr>
          <p:cNvSpPr txBox="1"/>
          <p:nvPr/>
        </p:nvSpPr>
        <p:spPr>
          <a:xfrm>
            <a:off x="2916000" y="3168000"/>
            <a:ext cx="1213794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тренировки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9414D2-AD04-408F-ACA5-498807F318B3}"/>
              </a:ext>
            </a:extLst>
          </p:cNvPr>
          <p:cNvSpPr txBox="1"/>
          <p:nvPr/>
        </p:nvSpPr>
        <p:spPr>
          <a:xfrm>
            <a:off x="4176000" y="3169288"/>
            <a:ext cx="739305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планы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9FD3B6-CAC9-4692-B483-B7E272AD4EA1}"/>
              </a:ext>
            </a:extLst>
          </p:cNvPr>
          <p:cNvSpPr txBox="1"/>
          <p:nvPr/>
        </p:nvSpPr>
        <p:spPr>
          <a:xfrm>
            <a:off x="5040000" y="3169288"/>
            <a:ext cx="1095172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инвентарь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59F605-FB8E-4D5A-8274-7865602F99B6}"/>
              </a:ext>
            </a:extLst>
          </p:cNvPr>
          <p:cNvSpPr txBox="1"/>
          <p:nvPr/>
        </p:nvSpPr>
        <p:spPr>
          <a:xfrm>
            <a:off x="6192000" y="3168000"/>
            <a:ext cx="805157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группы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7304E9-2A1A-438F-9BFA-A484F789F5DB}"/>
              </a:ext>
            </a:extLst>
          </p:cNvPr>
          <p:cNvSpPr txBox="1"/>
          <p:nvPr/>
        </p:nvSpPr>
        <p:spPr>
          <a:xfrm>
            <a:off x="7053985" y="3168000"/>
            <a:ext cx="1165512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 err="1"/>
              <a:t>челленджи</a:t>
            </a:r>
            <a:endParaRPr lang="ru-RU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D9EA41-DBA1-4190-9CAF-551BC728C08C}"/>
              </a:ext>
            </a:extLst>
          </p:cNvPr>
          <p:cNvSpPr txBox="1"/>
          <p:nvPr/>
        </p:nvSpPr>
        <p:spPr>
          <a:xfrm>
            <a:off x="8173833" y="3168000"/>
            <a:ext cx="914033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события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BEE07C-B4D2-4B68-8093-0F42DA83CBF0}"/>
              </a:ext>
            </a:extLst>
          </p:cNvPr>
          <p:cNvSpPr txBox="1"/>
          <p:nvPr/>
        </p:nvSpPr>
        <p:spPr>
          <a:xfrm>
            <a:off x="3204000" y="4679687"/>
            <a:ext cx="939553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согласия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378CA3-11E2-49C6-8DF9-B4BEBA859C13}"/>
              </a:ext>
            </a:extLst>
          </p:cNvPr>
          <p:cNvSpPr txBox="1"/>
          <p:nvPr/>
        </p:nvSpPr>
        <p:spPr>
          <a:xfrm>
            <a:off x="4667824" y="4683305"/>
            <a:ext cx="1266116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приватность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F78605-453A-4BEE-9A3A-479CB00D7018}"/>
              </a:ext>
            </a:extLst>
          </p:cNvPr>
          <p:cNvSpPr txBox="1"/>
          <p:nvPr/>
        </p:nvSpPr>
        <p:spPr>
          <a:xfrm>
            <a:off x="6192000" y="4679687"/>
            <a:ext cx="1364476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безопасность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E9848F-86F4-4C1B-BF45-173445F8E710}"/>
              </a:ext>
            </a:extLst>
          </p:cNvPr>
          <p:cNvSpPr txBox="1"/>
          <p:nvPr/>
        </p:nvSpPr>
        <p:spPr>
          <a:xfrm>
            <a:off x="7668000" y="4679687"/>
            <a:ext cx="1566967" cy="338554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ru-RU" sz="1600" dirty="0"/>
              <a:t>наблюдаемость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E0EDFF-3C3C-4050-8C2B-4BC03FE20931}"/>
              </a:ext>
            </a:extLst>
          </p:cNvPr>
          <p:cNvSpPr txBox="1"/>
          <p:nvPr/>
        </p:nvSpPr>
        <p:spPr>
          <a:xfrm>
            <a:off x="124100" y="5743987"/>
            <a:ext cx="198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22222"/>
                </a:solidFill>
                <a:effectLst/>
              </a:rPr>
              <a:t>Не строим тяжелый монолит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BC81F1-E67A-4EC1-9F0D-95E0D2F2A251}"/>
              </a:ext>
            </a:extLst>
          </p:cNvPr>
          <p:cNvSpPr txBox="1"/>
          <p:nvPr/>
        </p:nvSpPr>
        <p:spPr>
          <a:xfrm>
            <a:off x="2131864" y="5744155"/>
            <a:ext cx="2667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22222"/>
                </a:solidFill>
                <a:effectLst/>
              </a:rPr>
              <a:t>Не строим избыточно сложную </a:t>
            </a:r>
            <a:r>
              <a:rPr lang="ru-RU" sz="1600" b="0" i="0" dirty="0" err="1">
                <a:solidFill>
                  <a:srgbClr val="222222"/>
                </a:solidFill>
                <a:effectLst/>
              </a:rPr>
              <a:t>микросервисную</a:t>
            </a:r>
            <a:r>
              <a:rPr lang="ru-RU" sz="1600" b="0" i="0" dirty="0">
                <a:solidFill>
                  <a:srgbClr val="222222"/>
                </a:solidFill>
                <a:effectLst/>
              </a:rPr>
              <a:t> систему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18BA6B-4789-42E1-B805-614B57BE8236}"/>
              </a:ext>
            </a:extLst>
          </p:cNvPr>
          <p:cNvSpPr txBox="1"/>
          <p:nvPr/>
        </p:nvSpPr>
        <p:spPr>
          <a:xfrm>
            <a:off x="4651649" y="5742867"/>
            <a:ext cx="2667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22222"/>
                </a:solidFill>
                <a:effectLst/>
              </a:rPr>
              <a:t>Используем модульную событийную архитектуру</a:t>
            </a:r>
            <a:endParaRPr lang="ru-RU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11203C-1CEC-42FB-8937-5899A2311C7C}"/>
              </a:ext>
            </a:extLst>
          </p:cNvPr>
          <p:cNvSpPr txBox="1"/>
          <p:nvPr/>
        </p:nvSpPr>
        <p:spPr>
          <a:xfrm>
            <a:off x="6934720" y="5736300"/>
            <a:ext cx="2667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22222"/>
                </a:solidFill>
                <a:effectLst/>
              </a:rPr>
              <a:t>Приватность и безопасность — фундамент, а не надстройка</a:t>
            </a:r>
            <a:endParaRPr lang="ru-RU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CA9174-5C1B-4533-8E1E-9B16965E0B66}"/>
              </a:ext>
            </a:extLst>
          </p:cNvPr>
          <p:cNvSpPr txBox="1"/>
          <p:nvPr/>
        </p:nvSpPr>
        <p:spPr>
          <a:xfrm>
            <a:off x="9547220" y="5742867"/>
            <a:ext cx="2667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22222"/>
                </a:solidFill>
                <a:effectLst/>
              </a:rPr>
              <a:t>Коммерция подключается аккуратно и контекстно.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8568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04C0DA-84B6-4204-966D-792F24F57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681" y="1114917"/>
            <a:ext cx="3354350" cy="1870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C8086C-2323-4C13-894B-04AE1581ABD1}"/>
              </a:ext>
            </a:extLst>
          </p:cNvPr>
          <p:cNvSpPr txBox="1"/>
          <p:nvPr/>
        </p:nvSpPr>
        <p:spPr>
          <a:xfrm>
            <a:off x="2538680" y="279133"/>
            <a:ext cx="692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+mj-lt"/>
              </a:rPr>
              <a:t>Поэтапное развитие: от ценности к масштабу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FEAE498C-3D19-4A9E-8365-5B3340A25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936104"/>
              </p:ext>
            </p:extLst>
          </p:nvPr>
        </p:nvGraphicFramePr>
        <p:xfrm>
          <a:off x="270576" y="1114917"/>
          <a:ext cx="8247780" cy="3095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344">
                  <a:extLst>
                    <a:ext uri="{9D8B030D-6E8A-4147-A177-3AD203B41FA5}">
                      <a16:colId xmlns:a16="http://schemas.microsoft.com/office/drawing/2014/main" val="3053995214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3616694956"/>
                    </a:ext>
                  </a:extLst>
                </a:gridCol>
                <a:gridCol w="2591547">
                  <a:extLst>
                    <a:ext uri="{9D8B030D-6E8A-4147-A177-3AD203B41FA5}">
                      <a16:colId xmlns:a16="http://schemas.microsoft.com/office/drawing/2014/main" val="857558826"/>
                    </a:ext>
                  </a:extLst>
                </a:gridCol>
                <a:gridCol w="1649556">
                  <a:extLst>
                    <a:ext uri="{9D8B030D-6E8A-4147-A177-3AD203B41FA5}">
                      <a16:colId xmlns:a16="http://schemas.microsoft.com/office/drawing/2014/main" val="2732417858"/>
                    </a:ext>
                  </a:extLst>
                </a:gridCol>
                <a:gridCol w="1649556">
                  <a:extLst>
                    <a:ext uri="{9D8B030D-6E8A-4147-A177-3AD203B41FA5}">
                      <a16:colId xmlns:a16="http://schemas.microsoft.com/office/drawing/2014/main" val="2987074181"/>
                    </a:ext>
                  </a:extLst>
                </a:gridCol>
              </a:tblGrid>
              <a:tr h="426964">
                <a:tc>
                  <a:txBody>
                    <a:bodyPr/>
                    <a:lstStyle/>
                    <a:p>
                      <a:r>
                        <a:rPr lang="ru-RU" sz="1000" dirty="0"/>
                        <a:t>Этап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Срок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Что делаем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Бизнес-смысл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Критерий перехода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08875"/>
                  </a:ext>
                </a:extLst>
              </a:tr>
              <a:tr h="546801">
                <a:tc>
                  <a:txBody>
                    <a:bodyPr/>
                    <a:lstStyle/>
                    <a:p>
                      <a:r>
                        <a:rPr lang="ru-RU" sz="1000" dirty="0"/>
                        <a:t>Этап 0. Фундамент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0–3 месяца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Безопасность, приватность, единый вход, базовая 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Снизить юридические и технические риски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Пройден </a:t>
                      </a:r>
                      <a:r>
                        <a:rPr lang="en-US" sz="1000" dirty="0"/>
                        <a:t>privacy/security review</a:t>
                      </a:r>
                      <a:endParaRPr lang="ru-RU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455914"/>
                  </a:ext>
                </a:extLst>
              </a:tr>
              <a:tr h="645784">
                <a:tc>
                  <a:txBody>
                    <a:bodyPr/>
                    <a:lstStyle/>
                    <a:p>
                      <a:r>
                        <a:rPr lang="ru-RU" sz="1000" dirty="0"/>
                        <a:t>Этап 1. Минимальная ценность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3–9 месяцев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Тренировки, история, планы, инвентарь, группы, простые </a:t>
                      </a:r>
                      <a:r>
                        <a:rPr lang="ru-RU" sz="1000" dirty="0" err="1"/>
                        <a:t>челленджи</a:t>
                      </a:r>
                      <a:r>
                        <a:rPr lang="ru-RU" sz="1000" dirty="0"/>
                        <a:t>, интеграция с магазином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Доказать полезность и связь с продажами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Удержание, первые покупки, стабильная запись тренировок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48479"/>
                  </a:ext>
                </a:extLst>
              </a:tr>
              <a:tr h="697237">
                <a:tc>
                  <a:txBody>
                    <a:bodyPr/>
                    <a:lstStyle/>
                    <a:p>
                      <a:r>
                        <a:rPr lang="ru-RU" sz="1000" dirty="0"/>
                        <a:t>Этап 2. Сообщество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9–15 месяцев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Поиск людей по интересам, события, расширенная геймификация, персонализация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Усилить вовлечение и сетевые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Рост групп, совместных тренировок, повторных визитов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729592"/>
                  </a:ext>
                </a:extLst>
              </a:tr>
              <a:tr h="778583">
                <a:tc>
                  <a:txBody>
                    <a:bodyPr/>
                    <a:lstStyle/>
                    <a:p>
                      <a:r>
                        <a:rPr lang="ru-RU" sz="1000" dirty="0"/>
                        <a:t>Этап 3. Масштаб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15–24 месяца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Массовые соревнования, продвинутые датчики, партнерские интеграции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Превратить продукт в экосистему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Устойчивость к пикам, рост коммерческих метрик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508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58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621423-52EF-4FD0-9280-1193E7322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836" y="882570"/>
            <a:ext cx="7117838" cy="39695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80C2E3-4A45-44DD-A433-FA936053F7DF}"/>
              </a:ext>
            </a:extLst>
          </p:cNvPr>
          <p:cNvSpPr txBox="1"/>
          <p:nvPr/>
        </p:nvSpPr>
        <p:spPr>
          <a:xfrm>
            <a:off x="143638" y="188702"/>
            <a:ext cx="12163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i="0" dirty="0">
                <a:solidFill>
                  <a:srgbClr val="222222"/>
                </a:solidFill>
                <a:effectLst/>
                <a:latin typeface="+mj-lt"/>
              </a:rPr>
              <a:t>Экономика инфраструктуры: стоимость растет, но масштабируется эффективно</a:t>
            </a:r>
            <a:endParaRPr lang="ru-RU" sz="28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99168-406F-403E-B501-D09D7CD6EDF3}"/>
              </a:ext>
            </a:extLst>
          </p:cNvPr>
          <p:cNvSpPr txBox="1"/>
          <p:nvPr/>
        </p:nvSpPr>
        <p:spPr>
          <a:xfrm>
            <a:off x="318438" y="882570"/>
            <a:ext cx="4052841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1300" b="1" i="0" dirty="0">
                <a:solidFill>
                  <a:srgbClr val="222222"/>
                </a:solidFill>
                <a:effectLst/>
              </a:rPr>
              <a:t>Допущения</a:t>
            </a:r>
          </a:p>
          <a:p>
            <a:pPr algn="l" rtl="0"/>
            <a:r>
              <a:rPr lang="ru-RU" sz="1300" b="0" i="0" dirty="0">
                <a:solidFill>
                  <a:srgbClr val="222222"/>
                </a:solidFill>
                <a:effectLst/>
              </a:rPr>
              <a:t>Оценка только по компьютерным ресурсам: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вычислительные ресурсы;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базы данных;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хранение;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потоковая обработка событий;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сеть и доставка контента;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мониторинг и базовая инфраструктура безопасности.</a:t>
            </a:r>
          </a:p>
          <a:p>
            <a:pPr algn="l" rtl="0"/>
            <a:r>
              <a:rPr lang="ru-RU" sz="1300" b="0" i="0" dirty="0">
                <a:solidFill>
                  <a:srgbClr val="222222"/>
                </a:solidFill>
                <a:effectLst/>
              </a:rPr>
              <a:t>Не включает: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команды разработки;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поддержку пользователей;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маркетинг;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юридическое сопровождение;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полный операционный TCO.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96D32ECC-5A83-439C-81AF-0F7D3F22F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799098"/>
              </p:ext>
            </p:extLst>
          </p:nvPr>
        </p:nvGraphicFramePr>
        <p:xfrm>
          <a:off x="251326" y="5022783"/>
          <a:ext cx="1173212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328">
                  <a:extLst>
                    <a:ext uri="{9D8B030D-6E8A-4147-A177-3AD203B41FA5}">
                      <a16:colId xmlns:a16="http://schemas.microsoft.com/office/drawing/2014/main" val="1249505200"/>
                    </a:ext>
                  </a:extLst>
                </a:gridCol>
                <a:gridCol w="1568919">
                  <a:extLst>
                    <a:ext uri="{9D8B030D-6E8A-4147-A177-3AD203B41FA5}">
                      <a16:colId xmlns:a16="http://schemas.microsoft.com/office/drawing/2014/main" val="3606599434"/>
                    </a:ext>
                  </a:extLst>
                </a:gridCol>
                <a:gridCol w="1568918">
                  <a:extLst>
                    <a:ext uri="{9D8B030D-6E8A-4147-A177-3AD203B41FA5}">
                      <a16:colId xmlns:a16="http://schemas.microsoft.com/office/drawing/2014/main" val="336175016"/>
                    </a:ext>
                  </a:extLst>
                </a:gridCol>
                <a:gridCol w="2781701">
                  <a:extLst>
                    <a:ext uri="{9D8B030D-6E8A-4147-A177-3AD203B41FA5}">
                      <a16:colId xmlns:a16="http://schemas.microsoft.com/office/drawing/2014/main" val="4165055366"/>
                    </a:ext>
                  </a:extLst>
                </a:gridCol>
                <a:gridCol w="2646947">
                  <a:extLst>
                    <a:ext uri="{9D8B030D-6E8A-4147-A177-3AD203B41FA5}">
                      <a16:colId xmlns:a16="http://schemas.microsoft.com/office/drawing/2014/main" val="4205028556"/>
                    </a:ext>
                  </a:extLst>
                </a:gridCol>
                <a:gridCol w="2329314">
                  <a:extLst>
                    <a:ext uri="{9D8B030D-6E8A-4147-A177-3AD203B41FA5}">
                      <a16:colId xmlns:a16="http://schemas.microsoft.com/office/drawing/2014/main" val="4059307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00" dirty="0"/>
                        <a:t>Горизонт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Масштаб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Инфраструктурные ресурсы в год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Ориентировочная стоимость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Стоимость на 1 </a:t>
                      </a:r>
                      <a:r>
                        <a:rPr lang="en-US" sz="1000" dirty="0"/>
                        <a:t>MAU</a:t>
                      </a:r>
                      <a:endParaRPr lang="ru-RU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44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dirty="0"/>
                        <a:t>Год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0.5–0.7 млн </a:t>
                      </a:r>
                      <a:r>
                        <a:rPr lang="en-US" sz="1000" dirty="0"/>
                        <a:t>MAU</a:t>
                      </a:r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25–90 ТБ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вычисления, БД, хранилище, события, сеть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$4.5–6.5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$6–9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49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dirty="0"/>
                        <a:t>Год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2.5 млн </a:t>
                      </a:r>
                      <a:r>
                        <a:rPr lang="en-US" sz="1000" dirty="0"/>
                        <a:t>MAU</a:t>
                      </a:r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120–400 ТБ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рост нагрузки, соревнования, аналитика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$10–16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$4–6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02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dirty="0"/>
                        <a:t>Год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12 млн </a:t>
                      </a:r>
                      <a:r>
                        <a:rPr lang="en-US" sz="1000" dirty="0"/>
                        <a:t>MAU</a:t>
                      </a:r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600 ТБ – 1.8 ПБ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глобальный масштаб, DR, пиковые события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$35–60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$3–5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31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772FCC0-2D3F-4595-8464-124306DBB1C5}"/>
              </a:ext>
            </a:extLst>
          </p:cNvPr>
          <p:cNvSpPr txBox="1"/>
          <p:nvPr/>
        </p:nvSpPr>
        <p:spPr>
          <a:xfrm>
            <a:off x="4822836" y="882570"/>
            <a:ext cx="413577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ru-RU" sz="1300" b="1" i="0" dirty="0">
                <a:solidFill>
                  <a:srgbClr val="222222"/>
                </a:solidFill>
                <a:effectLst/>
              </a:rPr>
              <a:t>Как контролируем стоимость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Агрегация и сжатие телеметрии.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Хранение горячих и холодных данных отдельно.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 err="1">
                <a:solidFill>
                  <a:srgbClr val="222222"/>
                </a:solidFill>
                <a:effectLst/>
              </a:rPr>
              <a:t>Автомасштабирование</a:t>
            </a:r>
            <a:r>
              <a:rPr lang="ru-RU" sz="1300" b="0" i="0" dirty="0">
                <a:solidFill>
                  <a:srgbClr val="222222"/>
                </a:solidFill>
                <a:effectLst/>
              </a:rPr>
              <a:t> только под нагрузку.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Региональное развертывание по мере необходимости.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Ограничение хранения сырых данных.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1300" b="0" i="0" dirty="0">
                <a:solidFill>
                  <a:srgbClr val="222222"/>
                </a:solidFill>
                <a:effectLst/>
              </a:rPr>
              <a:t>Финансовая наблюдаемость: </a:t>
            </a:r>
            <a:r>
              <a:rPr lang="ru-RU" sz="1300" b="0" i="0" dirty="0" err="1">
                <a:solidFill>
                  <a:srgbClr val="222222"/>
                </a:solidFill>
                <a:effectLst/>
              </a:rPr>
              <a:t>FinOps</a:t>
            </a:r>
            <a:r>
              <a:rPr lang="ru-RU" sz="1300" b="0" i="0" dirty="0">
                <a:solidFill>
                  <a:srgbClr val="222222"/>
                </a:solidFill>
                <a:effectLst/>
              </a:rPr>
              <a:t>-метрики и лимиты.</a:t>
            </a:r>
          </a:p>
        </p:txBody>
      </p:sp>
    </p:spTree>
    <p:extLst>
      <p:ext uri="{BB962C8B-B14F-4D97-AF65-F5344CB8AC3E}">
        <p14:creationId xmlns:p14="http://schemas.microsoft.com/office/powerpoint/2010/main" val="18738877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712</Words>
  <Application>Microsoft Office PowerPoint</Application>
  <PresentationFormat>Широкоэкранный</PresentationFormat>
  <Paragraphs>149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Спортивная платформа бренда: вовлечение, сообщество, продажи</vt:lpstr>
      <vt:lpstr>Проблема: после покупки контакт с пользователем часто теряется</vt:lpstr>
      <vt:lpstr>Наши бизнес цели</vt:lpstr>
      <vt:lpstr>Мы управляем рисками через архитектуру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29</cp:revision>
  <dcterms:created xsi:type="dcterms:W3CDTF">2026-10-17T21:17:07Z</dcterms:created>
  <dcterms:modified xsi:type="dcterms:W3CDTF">2026-10-18T10:17:37Z</dcterms:modified>
</cp:coreProperties>
</file>